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50451854bc4b8c" /><Relationship Type="http://schemas.openxmlformats.org/officeDocument/2006/relationships/extended-properties" Target="/docProps/app.xml" Id="R27617c4fa87445aa" /><Relationship Type="http://schemas.openxmlformats.org/officeDocument/2006/relationships/officeDocument" Target="/ppt/presentation.xml" Id="R69e2d308d8ba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69a832c774359"/>
  </p:sldMasterIdLst>
  <p:notesMasterIdLst>
    <p:notesMasterId xmlns:r="http://schemas.openxmlformats.org/officeDocument/2006/relationships" r:id="R7f282fb909c441e1"/>
  </p:notesMasterIdLst>
  <p:sldIdLst>
    <p:sldId xmlns:r="http://schemas.openxmlformats.org/officeDocument/2006/relationships" id="256" r:id="R87902fe722774a1e"/>
    <p:sldId xmlns:r="http://schemas.openxmlformats.org/officeDocument/2006/relationships" id="257" r:id="Rcc5d4e298c434c0a"/>
    <p:sldId xmlns:r="http://schemas.openxmlformats.org/officeDocument/2006/relationships" id="258" r:id="R92d850bb26c6453c"/>
    <p:sldId xmlns:r="http://schemas.openxmlformats.org/officeDocument/2006/relationships" id="259" r:id="R92c2038bf1884ead"/>
    <p:sldId xmlns:r="http://schemas.openxmlformats.org/officeDocument/2006/relationships" id="260" r:id="R48e1530f98c54f77"/>
    <p:sldId xmlns:r="http://schemas.openxmlformats.org/officeDocument/2006/relationships" id="261" r:id="R538059d95f9b42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49f6c0fb9b4ddc" /><Relationship Type="http://schemas.openxmlformats.org/officeDocument/2006/relationships/slideMaster" Target="/ppt/slideMasters/slideMaster1.xml" Id="R41c69a832c774359" /><Relationship Type="http://schemas.openxmlformats.org/officeDocument/2006/relationships/notesMaster" Target="/ppt/notesMasters/notesMaster1.xml" Id="R7f282fb909c441e1" /><Relationship Type="http://schemas.openxmlformats.org/officeDocument/2006/relationships/presProps" Target="/ppt/presProps.xml" Id="Rfce7a7dc834d4079" /><Relationship Type="http://schemas.openxmlformats.org/officeDocument/2006/relationships/viewProps" Target="/ppt/viewProps.xml" Id="R7999b4ce70d045f6" /><Relationship Type="http://schemas.openxmlformats.org/officeDocument/2006/relationships/tableStyles" Target="/ppt/tableStyles.xml" Id="R1e290a4fccdd4831" /><Relationship Type="http://schemas.openxmlformats.org/officeDocument/2006/relationships/slide" Target="/ppt/slides/slide1.xml" Id="R87902fe722774a1e" /><Relationship Type="http://schemas.openxmlformats.org/officeDocument/2006/relationships/slide" Target="/ppt/slides/slide2.xml" Id="Rcc5d4e298c434c0a" /><Relationship Type="http://schemas.openxmlformats.org/officeDocument/2006/relationships/slide" Target="/ppt/slides/slide3.xml" Id="R92d850bb26c6453c" /><Relationship Type="http://schemas.openxmlformats.org/officeDocument/2006/relationships/slide" Target="/ppt/slides/slide4.xml" Id="R92c2038bf1884ead" /><Relationship Type="http://schemas.openxmlformats.org/officeDocument/2006/relationships/slide" Target="/ppt/slides/slide5.xml" Id="R48e1530f98c54f77" /><Relationship Type="http://schemas.openxmlformats.org/officeDocument/2006/relationships/slide" Target="/ppt/slides/slide6.xml" Id="R538059d95f9b42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8a63226b34a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219b20bb24b78" /><Relationship Type="http://schemas.openxmlformats.org/officeDocument/2006/relationships/notesMaster" Target="/ppt/notesMasters/notesMaster1.xml" Id="R9c8a07e01a4e42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29f4c96674647" /><Relationship Type="http://schemas.openxmlformats.org/officeDocument/2006/relationships/notesMaster" Target="/ppt/notesMasters/notesMaster1.xml" Id="Raaabbd7a519540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6e97201b354ee2" /><Relationship Type="http://schemas.openxmlformats.org/officeDocument/2006/relationships/notesMaster" Target="/ppt/notesMasters/notesMaster1.xml" Id="Rd2848609ce234c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f8962ce424fc4" /><Relationship Type="http://schemas.openxmlformats.org/officeDocument/2006/relationships/notesMaster" Target="/ppt/notesMasters/notesMaster1.xml" Id="Rbf8f49a2b1fa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c80be743c4317" /><Relationship Type="http://schemas.openxmlformats.org/officeDocument/2006/relationships/notesMaster" Target="/ppt/notesMasters/notesMaster1.xml" Id="Rc37ada10586c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52bf36bb840a1" /><Relationship Type="http://schemas.openxmlformats.org/officeDocument/2006/relationships/notesMaster" Target="/ppt/notesMasters/notesMaster1.xml" Id="R84ca7b88405b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d355e812841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1a474d5ea5403e" /><Relationship Type="http://schemas.openxmlformats.org/officeDocument/2006/relationships/slideLayout" Target="/ppt/slideLayouts/slideLayout1.xml" Id="Rbafcbeab3816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cbeab3816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14d14438b4303" /><Relationship Type="http://schemas.openxmlformats.org/officeDocument/2006/relationships/notesSlide" Target="/ppt/notesSlides/notesSlide1.xml" Id="R0998ba3c551544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4084ea4204334" /><Relationship Type="http://schemas.openxmlformats.org/officeDocument/2006/relationships/notesSlide" Target="/ppt/notesSlides/notesSlide2.xml" Id="R513a78d0b18647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dccd3ad294977" /><Relationship Type="http://schemas.openxmlformats.org/officeDocument/2006/relationships/notesSlide" Target="/ppt/notesSlides/notesSlide3.xml" Id="R0492293e324f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92dcfdce24be3" /><Relationship Type="http://schemas.openxmlformats.org/officeDocument/2006/relationships/notesSlide" Target="/ppt/notesSlides/notesSlide4.xml" Id="Rd585e90174e149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e3159f3f74db0" /><Relationship Type="http://schemas.openxmlformats.org/officeDocument/2006/relationships/notesSlide" Target="/ppt/notesSlides/notesSlide5.xml" Id="Rcdb6525e956541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2216eaae3414a" /><Relationship Type="http://schemas.openxmlformats.org/officeDocument/2006/relationships/notesSlide" Target="/ppt/notesSlides/notesSlide6.xml" Id="R08efd335f6f84a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55039-ADDE-45BA-8498-EDD8EFEB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1A883C-8FC3-4369-B17C-40C36C56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LOCKED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885B9-BF0D-4C41-93B7-603082B0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rPr>
              <a:t>E41 locks the write protocol: atoms propose, Arbiter commits.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51871-73CC-47A0-AFD7-3A28F374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C9B26-5401-4828-B2CE-3E7E58F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VRAXION locked flowchart // E41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61A95-58CD-489B-943A-CC47F202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6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slide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0B13E-764B-4C98-863C-27A928AB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Logic Atom = IF conditions THEN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4CE06-8783-4416-9EBC-09A38060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Stable Flow changes only after an Arbiter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17180-7E3D-4ED5-942D-3211F05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2B3DE-4B53-46BE-BC72-DCDBD60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Old Flow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FD6E1-455B-44D1-A92C-90E8FC12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read-only state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no write during atom 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AF960-AD18-44F5-B693-326DC62F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99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94708-A2A2-44D5-B0BC-5F896647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Logic Atoms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15260-249A-49E8-8BA7-A4ACE944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local IF rules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emit proposals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1C00E-5C75-4D87-AA03-C4E6349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99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F2D8D-B37F-43B1-B2E0-13A2694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Arbiter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049DB-9C62-41A8-806A-ADED03C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290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commit / reject / defer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resolves conflicts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ABDD5-E564-471C-BF2D-A25041DF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9D025-0F90-4EDF-81A1-834C984F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New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9625E-F9CD-4BC6-B9AB-57F3E029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stable state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post-commit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23B51-AD2F-477F-B598-C75554D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337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12364-1A6F-4A24-B53F-7FAD9366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8C647-60E0-48A9-BF34-246857A9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86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23ABA-5864-4178-B00B-4127E0D5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337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C0D50-EF66-4A1C-A204-943FCD14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8535E-32CC-477A-81A3-BFDEAC3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86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B45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FFB454"/>
                </a:solidFill>
                <a:latin typeface="Aptos Mono"/>
                <a:ea typeface="Aptos Mono"/>
                <a:cs typeface="Aptos Mono"/>
              </a:rPr>
              <a:t>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C82CC-E742-483C-8F65-9AA79DB7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337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979BA-7CC0-44B9-B333-6E100B6F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8C8C9-8D3E-463E-BD9F-BE45270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6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rPr>
              <a:t>commit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82CD2-51E2-4E78-AE12-FCB28D20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979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E41 result: grow/shrink genome reached exact=1.000, action=1.000, false_commit=0.000, missed_commit=0.000.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2072A6-9D79-4F7C-8530-8A086E60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483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Boundary: controlled Flow-grid proxy, not raw language or model-scale claim.</a:t>
            </a:r>
          </a:p>
        </p:txBody>
      </p:sp>
    </p:spTree>
    <p:extLst>
      <p:ext uri="{BB962C8B-B14F-4D97-AF65-F5344CB8AC3E}">
        <p14:creationId xmlns:p14="http://schemas.microsoft.com/office/powerpoint/2010/main" val="17638369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B48A3-B5CD-4BB1-8475-777F888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D176F6-E1AE-4509-9E88-0BDD6100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BOTTOM-UP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5FF8C-7879-4B5E-86A7-12DF373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rPr>
              <a:t>The current locked stack separates location, local rules, proposals, and commit.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E24DC-BA9E-4D49-B8C8-37A3E992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25AE9-AB82-4463-AEE0-3293943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VRAXION locked flowchart // E41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02595-2584-4229-9207-3FC5028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6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slide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B7DA4-6B5E-47B2-A283-61F68AE6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3EB22-4048-4DBB-9725-111F4437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Flow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7015C-1F97-427D-8433-55246F83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7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shared grid state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old snapshot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8845B-815F-4528-B6A1-2BE06AC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384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4CB1F-7333-42C4-8396-97F3F8C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Router lens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D86D4-C80F-4301-AD3C-8A04EFC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127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finds address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location + 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4E699-FE52-497A-9D75-91CD1819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14DC8-ABB5-4E2E-B374-3E42BA89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ALU 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4BBDB-5B8A-4329-AB98-2E43137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127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local condition cells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binary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F4044-0D70-4FA3-B5A4-9DF5AC8C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C02D3-2E2D-4423-890F-C2B78C2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Logic Atom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BD6DE-4B36-4BAC-BADB-975D4D8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127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IF rows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proposal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2750F-A5A6-4D81-A159-1EA16833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1F8B2-9B4F-41ED-A034-EACB78A0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Arbiter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39150-6FC6-4766-B625-2B401628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127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commit / reject / defer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no direct 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7F1BE-B39D-4645-BB24-797D7B90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38400"/>
            <a:ext cx="990600" cy="1257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F7809-E2AA-426C-AED2-84D2C38B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Flow'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EA570-4EB2-42B0-805D-1D1B0413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57500"/>
            <a:ext cx="647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new stable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F8C13-7C38-413E-8136-7198C472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575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4C87DF-8EFA-4B9E-9C55-FED331DA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AE26D-185D-4676-9224-4E271044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575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36473-440D-41F4-8D30-2DCF7363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28826-503F-4F88-AE6A-6D2C13A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575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AF8D7-B5E6-4F87-A5F5-B306A758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B039D-9E7B-4CFD-8A47-2D6017A8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575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F3B67-5133-4DDC-8AB1-3CEAA4A0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AD8A8-18FB-41AC-B62C-5DCE536C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575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A92D19-BFF7-487B-AF8C-E1EF4FF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52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79105C-2F0D-4F47-8F32-E3F5F41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0009F-00A5-4097-A8D2-681698C6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E39A/B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BEAB9A-AF88-4661-A7CC-6805F5C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6720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FFB45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DFC967-C160-4A8D-8C55-280BEE2B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148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4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454"/>
                </a:solidFill>
                <a:latin typeface="Aptos Mono"/>
                <a:ea typeface="Aptos Mono"/>
                <a:cs typeface="Aptos Mono"/>
              </a:rPr>
              <a:t>E40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1338E1-94C3-4D02-AF38-AA4A3A1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CE38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35F05F-DD34-46EA-A740-18B6D97C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148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E38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CE38B"/>
                </a:solidFill>
                <a:latin typeface="Aptos Mono"/>
                <a:ea typeface="Aptos Mono"/>
                <a:cs typeface="Aptos Mono"/>
              </a:rPr>
              <a:t>E41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951C2C-D65E-454D-BA3E-2E70E41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Design rule: every block has one job. Location search does not decide commit. Logic Atom does not directly overwrite Flow. Arbiter is the only write boundary.</a:t>
            </a:r>
          </a:p>
        </p:txBody>
      </p:sp>
    </p:spTree>
    <p:extLst>
      <p:ext uri="{BB962C8B-B14F-4D97-AF65-F5344CB8AC3E}">
        <p14:creationId xmlns:p14="http://schemas.microsoft.com/office/powerpoint/2010/main" val="71122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1DABEF-313B-478B-BC70-AA6372AF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80CD29-FE4B-4782-AC20-B216E93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LOGIC ATOM GRAMMAR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BA7C1-DF62-44A4-82C6-7006209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rPr>
              <a:t>A Logic Atom is a small conditional proposal rule, not a mini neural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7E03D-474A-4866-9E81-8951E41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F61EE-DACF-4D95-8AA2-A546ACFA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VRAXION locked flowchart // E41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063C2-3731-4B16-B775-6CA4568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6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slide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177BF-FC7B-4487-9C5F-E288CAF0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206E8-7066-47BF-98E7-05D8F788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Generic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792FB-746E-4964-BF75-C6D55A54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990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IF condition_1</a:t>
            </a:r>
          </a:p>
          <a:p xmlns:a="http://schemas.openxmlformats.org/drawingml/2006/main">
            <a:pPr algn="l">
              <a:def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AND condition_2</a:t>
            </a:r>
          </a:p>
          <a:p xmlns:a="http://schemas.openxmlformats.org/drawingml/2006/main">
            <a:pPr algn="l">
              <a:def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AND ...</a:t>
            </a:r>
          </a:p>
          <a:p xmlns:a="http://schemas.openxmlformats.org/drawingml/2006/main">
            <a:pPr algn="l">
              <a:def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THEN proposal(type, target, payload)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9BB3C-6C21-4AEF-A053-2A00A471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D9D0D-68C7-442A-8D58-23F509B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37C61-2648-40A4-BC2F-F0BB3925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337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B45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FFB454"/>
                </a:solidFill>
                <a:latin typeface="Aptos Mono"/>
                <a:ea typeface="Aptos Mono"/>
                <a:cs typeface="Aptos Mono"/>
              </a:rPr>
              <a:t>compiles 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4A26A-10F6-4760-A8C0-5CB0BA8B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2952750" cy="34290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AE0C0-C5CA-4AF6-81D5-7E6F6CD4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097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E41 learned 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28781-0B08-4093-90D2-7EEFC66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95500"/>
            <a:ext cx="2609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atom_0:</a:t>
            </a:r>
          </a:p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  IF missing_is_0</a:t>
            </a:r>
          </a:p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  THEN 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atom_1:</a:t>
            </a:r>
          </a:p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  IF blocker_is_1</a:t>
            </a:r>
          </a:p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  AND missing_is_0</a:t>
            </a:r>
          </a:p>
          <a:p xmlns:a="http://schemas.openxmlformats.org/drawingml/2006/main">
            <a:pPr algn="l">
              <a:def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  THEN REJECT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B3BD4-074C-4FB8-8F59-A6EAAEB6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8137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F4367-4F32-4F12-891F-0F3526B7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00BD3-D7BB-4901-B426-A67FCE3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337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rPr>
              <a:t>arbiter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0015D-8731-4CA7-98AB-ABB5C32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76400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B16D-BFDA-4815-B2B0-5CA3705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Fallback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F3C12-7BC7-4779-AF03-8C5482E1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228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no valid proposal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=&gt; unresolved</a:t>
            </a:r>
          </a:p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=&gt; Arbiter DEFER</a:t>
            </a:r>
          </a:p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=&gt; no Flow 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2C564-3E81-4972-86CB-F0891EC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Important: DEFER does not need a hand-built semantic lane. It falls out of proposal absence.</a:t>
            </a:r>
          </a:p>
        </p:txBody>
      </p:sp>
    </p:spTree>
    <p:extLst>
      <p:ext uri="{BB962C8B-B14F-4D97-AF65-F5344CB8AC3E}">
        <p14:creationId xmlns:p14="http://schemas.microsoft.com/office/powerpoint/2010/main" val="853608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FD2CF-B435-444C-B3F7-994C755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AF09BF-10F1-43FE-91CE-64D8E248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MUTATION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9891E-B06F-41EE-80A5-B20E3FD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rPr>
              <a:t>Mutation edits the genome; rollback protects the current best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B688C-B227-4E3B-B7BB-5481BDB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C5908-921F-4EAB-93FF-0A3A024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VRAXION locked flowchart // E41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A6806-53F3-4A84-8189-C8201CDE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6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slide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5571-D3EE-447A-8726-A889EC23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4870-E50D-425A-B6B7-27823758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Candidate genome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9685D-D305-4DF4-AB99-0091A3CE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atoms + conditions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proposal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41ED-F16D-447B-81ED-97DFBF8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6956E-3264-48A6-A075-C426DCAE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Mutate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B762D-B4B6-4C57-8C97-8831F5E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add/remove atom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add/remove condition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change proposal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7589-5E44-4FDC-BA84-C5B3493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61CB6-99D7-4B6F-971D-596748C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Row-level 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F15AE-8249-444C-9BD1-E559480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28850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action exact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Flow exact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commit errors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FEBC1-647B-4378-B6EE-F97E72FF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56EFB-3205-420F-ABCD-AD220800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86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Rollback / accept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A370C-3F90-4957-9795-C0D07E8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accept if score improves</a:t>
            </a:r>
          </a:p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reject restores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F4EE6-F97A-41B3-A2B7-5B74449C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B29F2-54E8-40A2-9B05-C8AEAA2B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0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8C9B6-A047-44DE-BB41-2ED209FC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63524-4A30-47E4-A23B-2EB8C3E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0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7A385-B0E8-4DBD-8237-708C67C4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47975"/>
            <a:ext cx="289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A487A-C1CC-4068-B273-7BE4783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B3EBE-99F2-476D-8927-75E4B67A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03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rPr>
              <a:t>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2BAAB-46E9-4113-9812-021348D3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482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AF55C-B6F0-4338-BECC-D9E28E3F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43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42622-91FC-4A79-950C-BA1651D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CE38B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359D7-913A-47AA-94CD-4237AC1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647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748C14-186D-4228-A803-2EE10AC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E41 primary stats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CE8E4-5742-4CA1-B376-55004BC1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accepted: 200</a:t>
            </a:r>
          </a:p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rejected: 1816</a:t>
            </a:r>
          </a:p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rollback: 1816</a:t>
            </a:r>
          </a:p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initial score: 0.583938</a:t>
            </a:r>
          </a:p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final score: 0.995800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638224-15CA-451A-9F62-BDD68CA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No gradient descent, optimizer, or direct solver. Every accepted change has mutation history and replay artifacts.</a:t>
            </a:r>
          </a:p>
        </p:txBody>
      </p:sp>
    </p:spTree>
    <p:extLst>
      <p:ext uri="{BB962C8B-B14F-4D97-AF65-F5344CB8AC3E}">
        <p14:creationId xmlns:p14="http://schemas.microsoft.com/office/powerpoint/2010/main" val="8605145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A76EF-D053-4B93-B92D-426E19F6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493FB5-EFE9-4596-97BE-888A002B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WHY ARBITER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4A1C1-85F5-4E7D-B9FA-D4A83F1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rPr>
              <a:t>Direct write and no-Arbiter controls fail exactly where commit discipline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230BF-58D0-4F6B-BCAD-F763A8C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47E6C-B607-4166-86DA-0F334186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VRAXION locked flowchart // E41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55E98-F01D-47DA-A329-DE61D87F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6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slide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FEAB5-7AB8-4D76-9082-E6CF04F1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5F7"/>
                </a:solidFill>
                <a:latin typeface="Aptos"/>
                <a:ea typeface="Aptos"/>
                <a:cs typeface="Aptos"/>
              </a:rPr>
              <a:t>Primary E41 exact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44BC1-1919-4635-A5B8-50E812B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rPr>
              <a:t>grow_shrink_genome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62A59-613F-4ED0-81E2-A2D85F8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ADA96-87E8-414C-9A4D-DD5D1133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7D08B-BDEA-456C-B04D-FB61BEB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240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E38B"/>
                </a:solidFill>
                <a:latin typeface="Aptos Mono"/>
                <a:ea typeface="Aptos Mono"/>
                <a:cs typeface="Aptos Mono"/>
              </a:rPr>
              <a:t>1.000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BFED4-BAAC-4048-A424-9C1B4DD8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rPr>
              <a:t>fixed_slot_arbiter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1A939-5CEF-471C-BA93-2CFFE69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06E9C-DE36-422E-9696-832DDFB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92D41-3200-4082-BB89-951C1702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193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1.000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818F7-EC5F-40AB-B8B7-9B1E8BC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rPr>
              <a:t>direct_write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A224F-5BA7-4725-9E6E-C81E7E0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0D4A1-1C4F-4A4E-BEB9-01A02D9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176174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16FF3-F54C-425D-8CCA-2A816233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0.544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20363-B1FB-4645-B01A-95DD3B0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rPr>
              <a:t>proposal_no_arbiter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A2AD6-F7A8-4406-A166-1FDB5798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6A6C1-3C12-4F42-A3EB-6B2E5F23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176174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FD78C-D250-4DFB-8535-E11BD94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99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0.544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454D5-54CB-4EFB-AFB2-976FA86A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F5F7"/>
                </a:solidFill>
                <a:latin typeface="Aptos Mono"/>
                <a:ea typeface="Aptos Mono"/>
                <a:cs typeface="Aptos Mono"/>
              </a:rPr>
              <a:t>random_control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868F0-440B-4851-A17F-98687638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83C57-7A6D-49C6-BBFD-747C51C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157714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4C758-D4CA-4A2D-A8DC-9B03C928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052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0.487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825EB-F0AD-49A4-A050-172FBC77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028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3F22B-697C-4A79-AF28-EEF201F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Direct write failure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37522D-49D3-4AB7-9821-EDFAED1C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2686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false_commit = 0.471</a:t>
            </a:r>
          </a:p>
          <a:p xmlns:a="http://schemas.openxmlformats.org/drawingml/2006/main">
            <a:pPr algn="l">
              <a:def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The atom writes when the state should reject or defer.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6A017-4465-4A62-8105-353919D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3028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7A2B82-75CC-411A-BDDB-5168B288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Proposal + Arbiter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85071-0396-4CB3-AB7C-B15E7894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2686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false_commit = 0.000</a:t>
            </a:r>
          </a:p>
          <a:p xmlns:a="http://schemas.openxmlformats.org/drawingml/2006/main">
            <a:pPr algn="l">
              <a:def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missed_commit = 0.000</a:t>
            </a:r>
          </a:p>
          <a:p xmlns:a="http://schemas.openxmlformats.org/drawingml/2006/main">
            <a:pPr algn="l">
              <a:def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No write without commit.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1CE11-C5F7-4F7D-BF9D-92D8AF56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Interpretation: the improvement is not just ALU routing. It is the separation between proposal generation and stable Flow commit.</a:t>
            </a:r>
          </a:p>
        </p:txBody>
      </p:sp>
    </p:spTree>
    <p:extLst>
      <p:ext uri="{BB962C8B-B14F-4D97-AF65-F5344CB8AC3E}">
        <p14:creationId xmlns:p14="http://schemas.microsoft.com/office/powerpoint/2010/main" val="19619414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433DE-17FC-4E3C-924A-64A12113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5B2CEA-E97B-414B-8A6B-BC72FC7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E0D4"/>
                </a:solidFill>
                <a:latin typeface="Aptos Mono"/>
                <a:ea typeface="Aptos Mono"/>
                <a:cs typeface="Aptos Mono"/>
              </a:rPr>
              <a:t>LOCKED LEDGER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4272B-956F-4999-A508-429177D1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F5F7"/>
                </a:solidFill>
                <a:latin typeface="Aptos Display"/>
                <a:ea typeface="Aptos Display"/>
                <a:cs typeface="Aptos Display"/>
              </a:rPr>
              <a:t>The flowchart is now stable enough to extend without changing the core write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A6603-0E4D-4C09-A2A0-A664C55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3052-C521-453D-BDF0-04B94D5E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VRAXION locked flowchart // E41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23A3F-D120-4EFB-82C5-204E2E5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6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slide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04CF4-49D3-4B3C-B45D-DF2F15CF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ED24B-CE5F-473B-B18B-F0764C8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E0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E0D4"/>
                </a:solidFill>
                <a:latin typeface="Aptos"/>
                <a:ea typeface="Aptos"/>
                <a:cs typeface="Aptos"/>
              </a:rPr>
              <a:t>Locked rule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22568-4615-409C-912A-54394F6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Atoms read old Flow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12566-F5C2-4C44-B5C4-DC95780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FA885-25F3-40B3-B773-2E2CCC96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Locked rule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2AA54-4D6B-407C-A3A8-8DBCB988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Atoms emit proposals, not writes.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FCADD-57A6-491D-B8E2-50CF5720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35D69-C09C-4E2F-B7FD-E118420F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Locked rule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8BE29-1947-40E1-BB67-68D63E0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BF"/>
                </a:solidFill>
                <a:latin typeface="Aptos"/>
                <a:ea typeface="Aptos"/>
                <a:cs typeface="Aptos"/>
              </a:rPr>
              <a:t>Arbiter is the only commit boundary.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53FFB-EBBC-40CB-BE5E-1EF83BE4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444C0-4CD3-411B-AF0A-3D7376A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28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E38B"/>
                </a:solidFill>
                <a:latin typeface="Aptos"/>
                <a:ea typeface="Aptos"/>
                <a:cs typeface="Aptos"/>
              </a:rPr>
              <a:t>Current proposals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6912B-D709-42E2-A694-B16CBD18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145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WRITE</a:t>
            </a:r>
          </a:p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REJECT</a:t>
            </a:r>
          </a:p>
          <a:p xmlns:a="http://schemas.openxmlformats.org/drawingml/2006/main">
            <a:pPr algn="l">
              <a:def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DEFER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AA820-8F26-4367-BC1D-683944FC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94D6D-7763-41A4-B9F3-2B9F42A8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90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Current mutations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CEBAA-CCF2-4729-B2A5-05832D97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766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add/remove atom</a:t>
            </a:r>
          </a:p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add/remove condition</a:t>
            </a:r>
          </a:p>
          <a:p xmlns:a="http://schemas.openxmlformats.org/drawingml/2006/main">
            <a:pPr algn="l">
              <a:def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change proposal 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DF542-D4BC-482D-A0DF-A775FF2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514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CDC61-9BED-42BD-BA97-88AD723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Next hooks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F4EC3-E6EF-465A-8274-EDCA9201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CALL</a:t>
            </a:r>
          </a:p>
          <a:p xmlns:a="http://schemas.openxmlformats.org/drawingml/2006/main">
            <a:pPr algn="l">
              <a:def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ASK / SEARCH</a:t>
            </a:r>
          </a:p>
          <a:p xmlns:a="http://schemas.openxmlformats.org/drawingml/2006/main">
            <a:pPr algn="l">
              <a:def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HALT</a:t>
            </a:r>
          </a:p>
          <a:p xmlns:a="http://schemas.openxmlformats.org/drawingml/2006/main">
            <a:pPr algn="l">
              <a:def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cost-aware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4E76B-5AEB-4C1D-A905-F4A9DFD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514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D24"/>
          </a:solidFill>
          <a:ln xmlns:a="http://schemas.openxmlformats.org/drawingml/2006/main" w="11430">
            <a:solidFill>
              <a:srgbClr val="3B46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41477-3C81-4F65-AF96-796CBA2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Do not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99BB5-9DEF-4C36-8FCD-D6DA1AB6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No direct overwrite.</a:t>
            </a:r>
          </a:p>
          <a:p xmlns:a="http://schemas.openxmlformats.org/drawingml/2006/main">
            <a:pPr algn="l">
              <a:defRPr sz="112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No hidden oracle.</a:t>
            </a:r>
          </a:p>
          <a:p xmlns:a="http://schemas.openxmlformats.org/drawingml/2006/main">
            <a:pPr algn="l">
              <a:defRPr sz="1125" b="0">
                <a:solidFill>
                  <a:srgbClr val="A8B3B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8B3BF"/>
                </a:solidFill>
                <a:latin typeface="Aptos Mono"/>
                <a:ea typeface="Aptos Mono"/>
                <a:cs typeface="Aptos Mono"/>
              </a:rPr>
              <a:t>No semantic lane labels.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B036F-1523-4FE0-A675-1F949586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2422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66086-D176-4CFF-A641-514F0F46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09CC8-5999-4D1A-8480-3D52DFB6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765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B45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FFB454"/>
                </a:solidFill>
                <a:latin typeface="Aptos Mono"/>
                <a:ea typeface="Aptos Mono"/>
                <a:cs typeface="Aptos Mono"/>
              </a:rPr>
              <a:t>proposal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D99B1B-DBD4-400A-A3CA-9117E0D7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D7C28-D507-4807-A543-34798E3B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D327C-87DC-4935-B6F6-37CA6BD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954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extend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51DAC-AD2B-457D-B191-5E0E12D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7F31CB-1209-432F-A4A3-A4ACC059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45F0F-11F0-4C60-BCFB-EE7969C5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575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guard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FFDCEA-3156-4973-8806-2D105AC5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948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2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5F7"/>
                </a:solidFill>
                <a:latin typeface="Aptos"/>
                <a:ea typeface="Aptos"/>
                <a:cs typeface="Aptos"/>
              </a:rPr>
              <a:t>Update protocol: future slides add new proposal types or Arbiter policies, but the stable Flow write boundary stays here.</a:t>
            </a:r>
          </a:p>
        </p:txBody>
      </p:sp>
    </p:spTree>
    <p:extLst>
      <p:ext uri="{BB962C8B-B14F-4D97-AF65-F5344CB8AC3E}">
        <p14:creationId xmlns:p14="http://schemas.microsoft.com/office/powerpoint/2010/main" val="855538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2026-06-12T23:37:12.6940000Z</dcterms:created>
  <dcterms:modified xsi:type="dcterms:W3CDTF">2026-06-12T23:37:12.6940000Z</dcterms:modified>
</coreProperties>
</file>